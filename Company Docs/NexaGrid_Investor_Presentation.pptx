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AAB2BC"/>
            </a:solidFill>
            <a:effectLst/>
          </c:spPr>
          <c:invertIfNegative val="0"/>
          <c:dLbls>
            <c:numFmt formatCode="&quot;₹&quot;0.0&quot; Cr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41F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AB2B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AB2B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6E7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FY23</c:v>
                  </c:pt>
                  <c:pt idx="1">
                    <c:v>FY24</c:v>
                  </c:pt>
                  <c:pt idx="2">
                    <c:v>FY25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4.8</c:v>
                </c:pt>
                <c:pt idx="1">
                  <c:v>9.1</c:v>
                </c:pt>
                <c:pt idx="2">
                  <c:v>16.7</c:v>
                </c:pt>
              </c:numCache>
            </c:numRef>
          </c:val>
        </c:ser>
        <c:dLbls>
          <c:numFmt formatCode="&quot;₹&quot;0.0&quot; Cr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41F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6EA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Ownership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6E73"/>
              </a:solidFill>
              <a:ln w="38100" cap="flat">
                <a:solidFill>
                  <a:srgbClr val="FAFAF8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7D0D8"/>
              </a:solidFill>
              <a:ln w="38100" cap="flat">
                <a:solidFill>
                  <a:srgbClr val="FAFAF8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0A4F53"/>
              </a:solidFill>
              <a:ln w="38100" cap="flat">
                <a:solidFill>
                  <a:srgbClr val="FAFAF8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9CA9B4"/>
              </a:solidFill>
              <a:ln w="38100" cap="flat">
                <a:solidFill>
                  <a:srgbClr val="FAFAF8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Founders</c:v>
                </c:pt>
                <c:pt idx="1">
                  <c:v>ESOP</c:v>
                </c:pt>
                <c:pt idx="2">
                  <c:v>Seed Investors</c:v>
                </c:pt>
                <c:pt idx="3">
                  <c:v>Angel Investors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65</c:v>
                </c:pt>
                <c:pt idx="1">
                  <c:v>10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138160" y="1188720"/>
            <a:ext cx="640080" cy="1188720"/>
          </a:xfrm>
          <a:prstGeom prst="line">
            <a:avLst/>
          </a:prstGeom>
          <a:noFill/>
          <a:ln w="12700">
            <a:solidFill>
              <a:srgbClr val="0E6E73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1188720"/>
            <a:ext cx="1188720" cy="548640"/>
          </a:xfrm>
          <a:prstGeom prst="line">
            <a:avLst/>
          </a:prstGeom>
          <a:noFill/>
          <a:ln w="12700">
            <a:solidFill>
              <a:srgbClr val="0E6E73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1737360"/>
            <a:ext cx="822960" cy="914400"/>
          </a:xfrm>
          <a:prstGeom prst="line">
            <a:avLst/>
          </a:prstGeom>
          <a:noFill/>
          <a:ln w="12700">
            <a:solidFill>
              <a:srgbClr val="0E6E7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2377440"/>
            <a:ext cx="1097280" cy="822960"/>
          </a:xfrm>
          <a:prstGeom prst="line">
            <a:avLst/>
          </a:prstGeom>
          <a:noFill/>
          <a:ln w="12700">
            <a:solidFill>
              <a:srgbClr val="0E6E7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235440" y="1737360"/>
            <a:ext cx="731520" cy="1463040"/>
          </a:xfrm>
          <a:prstGeom prst="line">
            <a:avLst/>
          </a:prstGeom>
          <a:noFill/>
          <a:ln w="12700">
            <a:solidFill>
              <a:srgbClr val="0E6E7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0" y="3200400"/>
            <a:ext cx="1097280" cy="1005840"/>
          </a:xfrm>
          <a:prstGeom prst="line">
            <a:avLst/>
          </a:prstGeom>
          <a:noFill/>
          <a:ln w="12700">
            <a:solidFill>
              <a:srgbClr val="0E6E7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332720" y="2651760"/>
            <a:ext cx="457200" cy="1554480"/>
          </a:xfrm>
          <a:prstGeom prst="line">
            <a:avLst/>
          </a:prstGeom>
          <a:noFill/>
          <a:ln w="12700">
            <a:solidFill>
              <a:srgbClr val="0E6E7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8229600" y="3200400"/>
            <a:ext cx="1005840" cy="731520"/>
          </a:xfrm>
          <a:prstGeom prst="line">
            <a:avLst/>
          </a:prstGeom>
          <a:noFill/>
          <a:ln w="12700">
            <a:solidFill>
              <a:srgbClr val="0E6E7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3931920"/>
            <a:ext cx="1280160" cy="1005840"/>
          </a:xfrm>
          <a:prstGeom prst="line">
            <a:avLst/>
          </a:prstGeom>
          <a:noFill/>
          <a:ln w="12700">
            <a:solidFill>
              <a:srgbClr val="0E6E7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32720" y="3749040"/>
            <a:ext cx="914400" cy="457200"/>
          </a:xfrm>
          <a:prstGeom prst="line">
            <a:avLst/>
          </a:prstGeom>
          <a:noFill/>
          <a:ln w="12700">
            <a:solidFill>
              <a:srgbClr val="0E6E7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7863840" y="3931920"/>
            <a:ext cx="365760" cy="914400"/>
          </a:xfrm>
          <a:prstGeom prst="line">
            <a:avLst/>
          </a:prstGeom>
          <a:noFill/>
          <a:ln w="12700">
            <a:solidFill>
              <a:srgbClr val="0E6E7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4846320"/>
            <a:ext cx="1645920" cy="91440"/>
          </a:xfrm>
          <a:prstGeom prst="line">
            <a:avLst/>
          </a:prstGeom>
          <a:noFill/>
          <a:ln w="12700">
            <a:solidFill>
              <a:srgbClr val="0E6E7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95944" y="1106424"/>
            <a:ext cx="164592" cy="164592"/>
          </a:xfrm>
          <a:prstGeom prst="ellipse">
            <a:avLst/>
          </a:prstGeom>
          <a:solidFill>
            <a:srgbClr val="0E6E73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916668" y="1687068"/>
            <a:ext cx="100584" cy="100584"/>
          </a:xfrm>
          <a:prstGeom prst="ellipse">
            <a:avLst/>
          </a:prstGeom>
          <a:solidFill>
            <a:srgbClr val="0E6E73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087868" y="2327148"/>
            <a:ext cx="100584" cy="100584"/>
          </a:xfrm>
          <a:prstGeom prst="ellipse">
            <a:avLst/>
          </a:prstGeom>
          <a:solidFill>
            <a:srgbClr val="0E6E73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707624" y="2569464"/>
            <a:ext cx="164592" cy="164592"/>
          </a:xfrm>
          <a:prstGeom prst="ellipse">
            <a:avLst/>
          </a:prstGeom>
          <a:solidFill>
            <a:srgbClr val="0E6E73">
              <a:alpha val="8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185148" y="3150108"/>
            <a:ext cx="100584" cy="100584"/>
          </a:xfrm>
          <a:prstGeom prst="ellipse">
            <a:avLst/>
          </a:prstGeom>
          <a:solidFill>
            <a:srgbClr val="0E6E73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179308" y="3881628"/>
            <a:ext cx="100584" cy="100584"/>
          </a:xfrm>
          <a:prstGeom prst="ellipse">
            <a:avLst/>
          </a:prstGeom>
          <a:solidFill>
            <a:srgbClr val="0E6E73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250424" y="4123944"/>
            <a:ext cx="164592" cy="164592"/>
          </a:xfrm>
          <a:prstGeom prst="ellipse">
            <a:avLst/>
          </a:prstGeom>
          <a:solidFill>
            <a:srgbClr val="0E6E73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59468" y="4887468"/>
            <a:ext cx="100584" cy="100584"/>
          </a:xfrm>
          <a:prstGeom prst="ellipse">
            <a:avLst/>
          </a:prstGeom>
          <a:solidFill>
            <a:srgbClr val="0E6E73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196828" y="3698748"/>
            <a:ext cx="100584" cy="100584"/>
          </a:xfrm>
          <a:prstGeom prst="ellipse">
            <a:avLst/>
          </a:prstGeom>
          <a:solidFill>
            <a:srgbClr val="0E6E73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781544" y="4764024"/>
            <a:ext cx="164592" cy="164592"/>
          </a:xfrm>
          <a:prstGeom prst="ellipse">
            <a:avLst/>
          </a:prstGeom>
          <a:solidFill>
            <a:srgbClr val="0E6E73">
              <a:alpha val="85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INVESTOR PRESENTATION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" y="23317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NexaGrid</a:t>
            </a:r>
            <a:endParaRPr lang="en-US" sz="68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4290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7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for the industrial supply chain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566928" y="4041648"/>
            <a:ext cx="914400" cy="0"/>
          </a:xfrm>
          <a:prstGeom prst="line">
            <a:avLst/>
          </a:prstGeom>
          <a:noFill/>
          <a:ln w="25400">
            <a:solidFill>
              <a:srgbClr val="0E6E7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42062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procurement &amp; inventory intelligence for mid-market manufacturers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881567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NEXAGRID TECHNOLOGIES PVT. LTD.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decisions are still driven by fragmented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34290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22199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₹18T+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9443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procurement spend across India's manufacturing ecosystem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07408" y="1965960"/>
            <a:ext cx="34290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07408" y="222199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30–45 days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4407408" y="29443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working-capital tied up in excess inventory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47888" y="1965960"/>
            <a:ext cx="34290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7888" y="222199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4–7 systems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8247888" y="29443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a typical mid-market manufacturer to manage supply-chain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160520"/>
            <a:ext cx="1105783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4160520"/>
            <a:ext cx="6903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Procurement, inventory and supplier data live in disconnected systems, making it difficult for finance and operations teams to identify inefficiencies in real time.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549640" y="4343400"/>
            <a:ext cx="777240" cy="384048"/>
          </a:xfrm>
          <a:prstGeom prst="roundRect">
            <a:avLst>
              <a:gd name="adj" fmla="val 14286"/>
            </a:avLst>
          </a:prstGeom>
          <a:ln w="12700">
            <a:solidFill>
              <a:srgbClr val="8A93A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8549640" y="43434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464040" y="4343400"/>
            <a:ext cx="777240" cy="384048"/>
          </a:xfrm>
          <a:prstGeom prst="roundRect">
            <a:avLst>
              <a:gd name="adj" fmla="val 14286"/>
            </a:avLst>
          </a:prstGeom>
          <a:ln w="12700">
            <a:solidFill>
              <a:srgbClr val="8A93A0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9464040" y="43434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0378440" y="4343400"/>
            <a:ext cx="777240" cy="384048"/>
          </a:xfrm>
          <a:prstGeom prst="roundRect">
            <a:avLst>
              <a:gd name="adj" fmla="val 14286"/>
            </a:avLst>
          </a:prstGeom>
          <a:ln w="12700">
            <a:solidFill>
              <a:srgbClr val="8A93A0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10378440" y="43434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686800" y="4873752"/>
            <a:ext cx="1371600" cy="384048"/>
          </a:xfrm>
          <a:prstGeom prst="roundRect">
            <a:avLst>
              <a:gd name="adj" fmla="val 14286"/>
            </a:avLst>
          </a:prstGeom>
          <a:ln w="12700">
            <a:solidFill>
              <a:srgbClr val="8A93A0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0" y="4873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195560" y="4873752"/>
            <a:ext cx="777240" cy="384048"/>
          </a:xfrm>
          <a:prstGeom prst="roundRect">
            <a:avLst>
              <a:gd name="adj" fmla="val 14286"/>
            </a:avLst>
          </a:prstGeom>
          <a:ln w="12700">
            <a:solidFill>
              <a:srgbClr val="8A93A0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10195560" y="48737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NEXAGRID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809848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Investor Presentation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intelligence layer across the supply chain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8745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965960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 rot="5400000">
            <a:off x="1275588" y="247802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606040"/>
            <a:ext cx="18745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606040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 rot="5400000">
            <a:off x="1275588" y="311810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246120"/>
            <a:ext cx="18745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3246120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 rot="5400000">
            <a:off x="1275588" y="375818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886200"/>
            <a:ext cx="18745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886200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 rot="5400000">
            <a:off x="1275588" y="439826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526280"/>
            <a:ext cx="18745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526280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441448" y="3502152"/>
            <a:ext cx="1216152" cy="0"/>
          </a:xfrm>
          <a:prstGeom prst="line">
            <a:avLst/>
          </a:prstGeom>
          <a:noFill/>
          <a:ln w="19050">
            <a:solidFill>
              <a:srgbClr val="0E6E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1965960"/>
            <a:ext cx="3246120" cy="3072384"/>
          </a:xfrm>
          <a:prstGeom prst="roundRect">
            <a:avLst>
              <a:gd name="adj" fmla="val 2976"/>
            </a:avLst>
          </a:prstGeom>
          <a:solidFill>
            <a:srgbClr val="141F33"/>
          </a:solidFill>
          <a:ln/>
          <a:effectLst>
            <a:outerShdw sx="100000" sy="100000" kx="0" ky="0" algn="bl" rotWithShape="0" blurRad="152400" dist="50800" dir="5400000">
              <a:srgbClr val="1A2333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657600" y="299923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NEXAGRID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357530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7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INTELLIGENCE LAYER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3502152"/>
            <a:ext cx="914400" cy="0"/>
          </a:xfrm>
          <a:prstGeom prst="line">
            <a:avLst/>
          </a:prstGeom>
          <a:noFill/>
          <a:ln w="19050">
            <a:solidFill>
              <a:srgbClr val="0E6E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18120" y="3209544"/>
            <a:ext cx="1737360" cy="585216"/>
          </a:xfrm>
          <a:prstGeom prst="roundRect">
            <a:avLst>
              <a:gd name="adj" fmla="val 12500"/>
            </a:avLst>
          </a:prstGeom>
          <a:solidFill>
            <a:srgbClr val="DCEBEA"/>
          </a:solidFill>
          <a:ln w="12700">
            <a:solidFill>
              <a:srgbClr val="0E6E7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18120" y="3209544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4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66928" y="5257800"/>
            <a:ext cx="128016" cy="128016"/>
          </a:xfrm>
          <a:prstGeom prst="ellipse">
            <a:avLst/>
          </a:prstGeom>
          <a:solidFill>
            <a:srgbClr val="0E6E7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5138928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5321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inventory requirements.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07408" y="5257800"/>
            <a:ext cx="128016" cy="128016"/>
          </a:xfrm>
          <a:prstGeom prst="ellipse">
            <a:avLst/>
          </a:prstGeom>
          <a:solidFill>
            <a:srgbClr val="0E6E7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663440" y="5138928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407408" y="55321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procurement inefficiencies.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47888" y="5257800"/>
            <a:ext cx="128016" cy="128016"/>
          </a:xfrm>
          <a:prstGeom prst="ellipse">
            <a:avLst/>
          </a:prstGeom>
          <a:solidFill>
            <a:srgbClr val="0E6E7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503920" y="5138928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247888" y="55321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teams specific actions instead of raw dashboards.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NEXAGRID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3809848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Investor Presentation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data to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34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2286000"/>
            <a:ext cx="548640" cy="548640"/>
          </a:xfrm>
          <a:prstGeom prst="ellipse">
            <a:avLst/>
          </a:prstGeom>
          <a:solidFill>
            <a:srgbClr val="DCEB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4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18488" y="2286000"/>
            <a:ext cx="397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Intelligence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86968" y="3017520"/>
            <a:ext cx="470596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6968" y="3172968"/>
            <a:ext cx="470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inventory requirements.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8728" y="1965960"/>
            <a:ext cx="534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98768" y="2286000"/>
            <a:ext cx="548640" cy="548640"/>
          </a:xfrm>
          <a:prstGeom prst="ellipse">
            <a:avLst/>
          </a:prstGeom>
          <a:solidFill>
            <a:srgbClr val="DCEBE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4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30288" y="2286000"/>
            <a:ext cx="397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Intelligence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598768" y="3017520"/>
            <a:ext cx="470596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98768" y="3172968"/>
            <a:ext cx="470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supplier and purchasing opportunities.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050792"/>
            <a:ext cx="534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" y="4370832"/>
            <a:ext cx="548640" cy="548640"/>
          </a:xfrm>
          <a:prstGeom prst="ellipse">
            <a:avLst/>
          </a:prstGeom>
          <a:solidFill>
            <a:srgbClr val="DCEBE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86968" y="4370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4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618488" y="4370832"/>
            <a:ext cx="397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Capital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86968" y="5102352"/>
            <a:ext cx="470596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968" y="5257800"/>
            <a:ext cx="470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inventory efficiency and cash tied up.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78728" y="4050792"/>
            <a:ext cx="534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98768" y="4370832"/>
            <a:ext cx="548640" cy="548640"/>
          </a:xfrm>
          <a:prstGeom prst="ellipse">
            <a:avLst/>
          </a:prstGeom>
          <a:solidFill>
            <a:srgbClr val="DCEBE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98768" y="4370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4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330288" y="4370832"/>
            <a:ext cx="397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Command Center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6598768" y="5102352"/>
            <a:ext cx="470596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98768" y="5257800"/>
            <a:ext cx="470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management view.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NEXAGRID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3809848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Investor Presentation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adoption across the manufacturing ecosystem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962656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customers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₹18.9 Cr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3401568" y="2962656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36208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E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118%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236208" y="2962656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070848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E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9070848" y="2962656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Revenue Growth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794760"/>
            <a:ext cx="11057839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41605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1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include mid-market manufacturers across automotive components, industrial equipment and specialty chemicals.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66928" y="5330952"/>
            <a:ext cx="82296" cy="82296"/>
          </a:xfrm>
          <a:prstGeom prst="ellipse">
            <a:avLst/>
          </a:prstGeom>
          <a:solidFill>
            <a:srgbClr val="0E6E7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5528" y="5230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Components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703320" y="5330952"/>
            <a:ext cx="82296" cy="82296"/>
          </a:xfrm>
          <a:prstGeom prst="ellipse">
            <a:avLst/>
          </a:prstGeom>
          <a:solidFill>
            <a:srgbClr val="0E6E7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931920" y="5230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Equipment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95160" y="5330952"/>
            <a:ext cx="82296" cy="82296"/>
          </a:xfrm>
          <a:prstGeom prst="ellipse">
            <a:avLst/>
          </a:prstGeom>
          <a:solidFill>
            <a:srgbClr val="0E6E7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23760" y="5230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Chemicals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NEXAGRID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809848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Investor Presentation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has scaled rapidly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965960"/>
          <a:ext cx="6949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965960"/>
            <a:ext cx="325800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41080" y="2148840"/>
            <a:ext cx="27093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GROWTH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2395728"/>
            <a:ext cx="27093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3703320"/>
            <a:ext cx="3258007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has grown consistently across three fiscal years, reflecting strong year-on-year expansion.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NEXAGRID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3809848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Investor Presentation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SaaS economics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25146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2395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72491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118%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401568" y="2103120"/>
            <a:ext cx="25146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75888" y="2395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675888" y="272491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236208" y="2103120"/>
            <a:ext cx="25146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0528" y="2395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510528" y="272491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₹2.8L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9070848" y="2103120"/>
            <a:ext cx="25146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45168" y="2395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ACV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345168" y="272491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₹15.1L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566928" y="4297680"/>
            <a:ext cx="11057839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6177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1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customer retention and contract expansion are supporting continued ARR growth.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NEXAGRID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809848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Investor Presentation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founder ownership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87452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34290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977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532120" y="2359152"/>
            <a:ext cx="201168" cy="201168"/>
          </a:xfrm>
          <a:prstGeom prst="rect">
            <a:avLst/>
          </a:prstGeom>
          <a:solidFill>
            <a:srgbClr val="0E6E7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897880" y="22311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372600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532120" y="2953512"/>
            <a:ext cx="50292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532120" y="3227832"/>
            <a:ext cx="201168" cy="201168"/>
          </a:xfrm>
          <a:prstGeom prst="rect">
            <a:avLst/>
          </a:prstGeom>
          <a:solidFill>
            <a:srgbClr val="C7D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897880" y="30998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ESOP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37260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532120" y="3822192"/>
            <a:ext cx="50292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32120" y="4096512"/>
            <a:ext cx="201168" cy="201168"/>
          </a:xfrm>
          <a:prstGeom prst="rect">
            <a:avLst/>
          </a:prstGeom>
          <a:solidFill>
            <a:srgbClr val="0A4F5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897880" y="39684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Investors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372600" y="3931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532120" y="4690872"/>
            <a:ext cx="50292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32120" y="4965192"/>
            <a:ext cx="201168" cy="201168"/>
          </a:xfrm>
          <a:prstGeom prst="rect">
            <a:avLst/>
          </a:prstGeom>
          <a:solidFill>
            <a:srgbClr val="9CA9B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897880" y="48371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 Investors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372600" y="4800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NEXAGRID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3809848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Investor Presentation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₹20 Cr to accelerate growth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7452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 Cr</a:t>
            </a:r>
            <a:endParaRPr lang="en-US" sz="5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8529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RAISE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349240" y="1965960"/>
            <a:ext cx="0" cy="109728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23560" y="21945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₹11.5 Cr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623560" y="2798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RAISED TO DATE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3703320"/>
            <a:ext cx="4423136" cy="502920"/>
          </a:xfrm>
          <a:prstGeom prst="rect">
            <a:avLst/>
          </a:prstGeom>
          <a:solidFill>
            <a:srgbClr val="0E6E73"/>
          </a:solidFill>
          <a:ln w="25400">
            <a:solidFill>
              <a:srgbClr val="FAFA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90064" y="3703320"/>
            <a:ext cx="3317352" cy="502920"/>
          </a:xfrm>
          <a:prstGeom prst="rect">
            <a:avLst/>
          </a:prstGeom>
          <a:solidFill>
            <a:srgbClr val="141F33"/>
          </a:solidFill>
          <a:ln w="25400">
            <a:solidFill>
              <a:srgbClr val="FAFA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07415" y="3703320"/>
            <a:ext cx="2211568" cy="502920"/>
          </a:xfrm>
          <a:prstGeom prst="rect">
            <a:avLst/>
          </a:prstGeom>
          <a:solidFill>
            <a:srgbClr val="8FA3AE"/>
          </a:solidFill>
          <a:ln w="25400">
            <a:solidFill>
              <a:srgbClr val="FAFA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8983" y="3703320"/>
            <a:ext cx="1105784" cy="502920"/>
          </a:xfrm>
          <a:prstGeom prst="rect">
            <a:avLst/>
          </a:prstGeom>
          <a:solidFill>
            <a:srgbClr val="C7D0D8"/>
          </a:solidFill>
          <a:ln w="25400">
            <a:solidFill>
              <a:srgbClr val="FAFA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526280"/>
            <a:ext cx="164592" cy="164592"/>
          </a:xfrm>
          <a:prstGeom prst="rect">
            <a:avLst/>
          </a:prstGeom>
          <a:solidFill>
            <a:srgbClr val="0E6E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" y="4416552"/>
            <a:ext cx="2398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818888"/>
            <a:ext cx="2535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1388" y="4526280"/>
            <a:ext cx="164592" cy="164592"/>
          </a:xfrm>
          <a:prstGeom prst="rect">
            <a:avLst/>
          </a:prstGeom>
          <a:solidFill>
            <a:srgbClr val="141F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05708" y="4416552"/>
            <a:ext cx="2398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331388" y="4818888"/>
            <a:ext cx="2535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95848" y="4526280"/>
            <a:ext cx="164592" cy="164592"/>
          </a:xfrm>
          <a:prstGeom prst="rect">
            <a:avLst/>
          </a:prstGeom>
          <a:solidFill>
            <a:srgbClr val="8FA3A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70168" y="4416552"/>
            <a:ext cx="2398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095848" y="4818888"/>
            <a:ext cx="2535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60307" y="4526280"/>
            <a:ext cx="164592" cy="164592"/>
          </a:xfrm>
          <a:prstGeom prst="rect">
            <a:avLst/>
          </a:prstGeom>
          <a:solidFill>
            <a:srgbClr val="C7D0D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34627" y="4416552"/>
            <a:ext cx="2398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860307" y="4818888"/>
            <a:ext cx="2535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5623560"/>
            <a:ext cx="11057839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NexaGrid expects to achieve operating break-even within 24 months of the current raise.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NEXAGRID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3809848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Investor Presentation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operators who understand manufacturing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2120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377440"/>
            <a:ext cx="960120" cy="960120"/>
          </a:xfrm>
          <a:prstGeom prst="ellipse">
            <a:avLst/>
          </a:prstGeom>
          <a:solidFill>
            <a:srgbClr val="141F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8408" y="23774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167128" y="24048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Arjun Mehta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2167128" y="2807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CEO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78408" y="3566160"/>
            <a:ext cx="438912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8408" y="3749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supply-chain operator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6208" y="1965960"/>
            <a:ext cx="52120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47688" y="2377440"/>
            <a:ext cx="960120" cy="960120"/>
          </a:xfrm>
          <a:prstGeom prst="ellipse">
            <a:avLst/>
          </a:prstGeom>
          <a:solidFill>
            <a:srgbClr val="141F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47688" y="23774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RK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836408" y="24048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Rhea Kapoor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836408" y="2807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47688" y="3566160"/>
            <a:ext cx="438912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47688" y="3749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software &amp; analytics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1663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641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407408" y="51663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4407408" y="5641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47888" y="51663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8247888" y="5641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NEXAGRID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809848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Investor Presentation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2026-09-04T06:11:57Z</dcterms:created>
  <dcterms:modified xsi:type="dcterms:W3CDTF">2026-09-04T06:11:57Z</dcterms:modified>
</cp:coreProperties>
</file>